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Newsreader"/>
      <p:regular r:id="rId25"/>
      <p:bold r:id="rId26"/>
      <p:italic r:id="rId27"/>
      <p:boldItalic r:id="rId28"/>
    </p:embeddedFont>
    <p:embeddedFont>
      <p:font typeface="DM Sans Light"/>
      <p:regular r:id="rId29"/>
      <p:bold r:id="rId30"/>
      <p:italic r:id="rId31"/>
      <p:boldItalic r:id="rId32"/>
    </p:embeddedFont>
    <p:embeddedFont>
      <p:font typeface="DM Sans SemiBold"/>
      <p:regular r:id="rId33"/>
      <p:bold r:id="rId34"/>
      <p:italic r:id="rId35"/>
      <p:boldItalic r:id="rId36"/>
    </p:embeddedFont>
    <p:embeddedFont>
      <p:font typeface="DM Sans"/>
      <p:regular r:id="rId37"/>
      <p:bold r:id="rId38"/>
      <p:italic r:id="rId39"/>
      <p:boldItalic r:id="rId40"/>
    </p:embeddedFont>
    <p:embeddedFont>
      <p:font typeface="Newsreader SemiBold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5B65F9-31A8-4D6B-9503-DF779E4DBBDC}">
  <a:tblStyle styleId="{405B65F9-31A8-4D6B-9503-DF779E4DBB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Italic.fntdata"/><Relationship Id="rId42" Type="http://schemas.openxmlformats.org/officeDocument/2006/relationships/font" Target="fonts/NewsreaderSemiBold-bold.fntdata"/><Relationship Id="rId41" Type="http://schemas.openxmlformats.org/officeDocument/2006/relationships/font" Target="fonts/NewsreaderSemiBold-regular.fntdata"/><Relationship Id="rId44" Type="http://schemas.openxmlformats.org/officeDocument/2006/relationships/font" Target="fonts/NewsreaderSemiBold-boldItalic.fntdata"/><Relationship Id="rId43" Type="http://schemas.openxmlformats.org/officeDocument/2006/relationships/font" Target="fonts/Newsread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Light-italic.fntdata"/><Relationship Id="rId30" Type="http://schemas.openxmlformats.org/officeDocument/2006/relationships/font" Target="fonts/DMSansLight-bold.fntdata"/><Relationship Id="rId33" Type="http://schemas.openxmlformats.org/officeDocument/2006/relationships/font" Target="fonts/DMSansSemiBold-regular.fntdata"/><Relationship Id="rId32" Type="http://schemas.openxmlformats.org/officeDocument/2006/relationships/font" Target="fonts/DMSansLight-boldItalic.fntdata"/><Relationship Id="rId35" Type="http://schemas.openxmlformats.org/officeDocument/2006/relationships/font" Target="fonts/DMSansSemiBold-italic.fntdata"/><Relationship Id="rId34" Type="http://schemas.openxmlformats.org/officeDocument/2006/relationships/font" Target="fonts/DMSansSemiBold-bold.fntdata"/><Relationship Id="rId37" Type="http://schemas.openxmlformats.org/officeDocument/2006/relationships/font" Target="fonts/DMSans-regular.fntdata"/><Relationship Id="rId36" Type="http://schemas.openxmlformats.org/officeDocument/2006/relationships/font" Target="fonts/DMSansSemiBold-boldItalic.fntdata"/><Relationship Id="rId39" Type="http://schemas.openxmlformats.org/officeDocument/2006/relationships/font" Target="fonts/DMSans-italic.fntdata"/><Relationship Id="rId38" Type="http://schemas.openxmlformats.org/officeDocument/2006/relationships/font" Target="fonts/DMSans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Newsreader-bold.fntdata"/><Relationship Id="rId25" Type="http://schemas.openxmlformats.org/officeDocument/2006/relationships/font" Target="fonts/Newsreader-regular.fntdata"/><Relationship Id="rId28" Type="http://schemas.openxmlformats.org/officeDocument/2006/relationships/font" Target="fonts/Newsreader-boldItalic.fntdata"/><Relationship Id="rId27" Type="http://schemas.openxmlformats.org/officeDocument/2006/relationships/font" Target="fonts/Newsreader-italic.fntdata"/><Relationship Id="rId29" Type="http://schemas.openxmlformats.org/officeDocument/2006/relationships/font" Target="fonts/DMSansLight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h652b1696e9952e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h652b1696e9952e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h17a65b2667b25fcf_1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h17a65b2667b25fcf_1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h652b1696e9952e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h652b1696e9952e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h652b1696e9952e7f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h652b1696e9952e7f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h652b1696e9952e7f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h652b1696e9952e7f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652b1696e9952e7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h652b1696e9952e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h652b1696e9952e7f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h652b1696e9952e7f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h652b1696e9952e7f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h652b1696e9952e7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h652b1696e9952e7f_0_1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h652b1696e9952e7f_0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h652b1696e9952e7f_0_1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h652b1696e9952e7f_0_1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h652b1696e9952e7f_0_1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h652b1696e9952e7f_0_1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h17a65b2667b25fcf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h17a65b2667b25fcf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h652b1696e9952e7f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h652b1696e9952e7f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h652b1696e9952e7f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h652b1696e9952e7f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h652b1696e9952e7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h652b1696e9952e7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h652b1696e9952e7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h652b1696e9952e7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h652b1696e9952e7f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h652b1696e9952e7f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h652b1696e9952e7f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h652b1696e9952e7f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nature.com/articles/s41586-022-04997-3" TargetMode="External"/><Relationship Id="rId4" Type="http://schemas.openxmlformats.org/officeDocument/2006/relationships/hyperlink" Target="https://www.mdpi.com/2624-6511/4/1/6" TargetMode="External"/><Relationship Id="rId5" Type="http://schemas.openxmlformats.org/officeDocument/2006/relationships/hyperlink" Target="https://comptroller.nyc.gov/reports/whos-minding-the-storefronts/" TargetMode="External"/><Relationship Id="rId6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pty cafe or bar interior, daytime (Provided by Getty Images)" id="468" name="Google Shape;468;p55"/>
          <p:cNvPicPr preferRelativeResize="0"/>
          <p:nvPr/>
        </p:nvPicPr>
        <p:blipFill rotWithShape="1">
          <a:blip r:embed="rId3">
            <a:alphaModFix/>
          </a:blip>
          <a:srcRect b="0" l="20404" r="20404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61975" y="1066100"/>
            <a:ext cx="38601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Loneliness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Epidemic</a:t>
            </a:r>
            <a:endParaRPr/>
          </a:p>
        </p:txBody>
      </p:sp>
      <p:sp>
        <p:nvSpPr>
          <p:cNvPr id="470" name="Google Shape;470;p55"/>
          <p:cNvSpPr txBox="1"/>
          <p:nvPr>
            <p:ph type="title"/>
          </p:nvPr>
        </p:nvSpPr>
        <p:spPr>
          <a:xfrm>
            <a:off x="399750" y="2298288"/>
            <a:ext cx="3860100" cy="5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Econ Hack 2026</a:t>
            </a:r>
            <a:endParaRPr sz="3000"/>
          </a:p>
        </p:txBody>
      </p:sp>
      <p:sp>
        <p:nvSpPr>
          <p:cNvPr id="471" name="Google Shape;471;p55"/>
          <p:cNvSpPr txBox="1"/>
          <p:nvPr>
            <p:ph type="title"/>
          </p:nvPr>
        </p:nvSpPr>
        <p:spPr>
          <a:xfrm>
            <a:off x="361975" y="4004438"/>
            <a:ext cx="3860100" cy="5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By: The Missing Third</a:t>
            </a:r>
            <a:endParaRPr sz="3000"/>
          </a:p>
        </p:txBody>
      </p:sp>
      <p:sp>
        <p:nvSpPr>
          <p:cNvPr id="472" name="Google Shape;472;p55"/>
          <p:cNvSpPr txBox="1"/>
          <p:nvPr>
            <p:ph idx="4294967295" type="subTitle"/>
          </p:nvPr>
        </p:nvSpPr>
        <p:spPr>
          <a:xfrm>
            <a:off x="399750" y="4432550"/>
            <a:ext cx="4163100" cy="5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By: Yelizaveta Nazarova, Karolina Szczepanik, Jude Yurcich, and Madeline Steyee.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p and saucer on a table in a cafe (Provided by Getty Images)" id="477" name="Google Shape;477;p56"/>
          <p:cNvPicPr preferRelativeResize="0"/>
          <p:nvPr/>
        </p:nvPicPr>
        <p:blipFill rotWithShape="1">
          <a:blip r:embed="rId3">
            <a:alphaModFix/>
          </a:blip>
          <a:srcRect b="0" l="16501" r="16501" t="0"/>
          <a:stretch/>
        </p:blipFill>
        <p:spPr>
          <a:xfrm>
            <a:off x="0" y="-2287"/>
            <a:ext cx="4572001" cy="51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56"/>
          <p:cNvSpPr txBox="1"/>
          <p:nvPr>
            <p:ph type="title"/>
          </p:nvPr>
        </p:nvSpPr>
        <p:spPr>
          <a:xfrm>
            <a:off x="4872750" y="1066100"/>
            <a:ext cx="3860100" cy="12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Third Spaces</a:t>
            </a:r>
            <a:endParaRPr/>
          </a:p>
        </p:txBody>
      </p:sp>
      <p:sp>
        <p:nvSpPr>
          <p:cNvPr id="479" name="Google Shape;479;p56"/>
          <p:cNvSpPr txBox="1"/>
          <p:nvPr>
            <p:ph type="title"/>
          </p:nvPr>
        </p:nvSpPr>
        <p:spPr>
          <a:xfrm>
            <a:off x="4872750" y="2320050"/>
            <a:ext cx="3860100" cy="24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Background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 Accessable</a:t>
            </a:r>
            <a:endParaRPr sz="18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 Available</a:t>
            </a:r>
            <a:endParaRPr sz="18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 Affordable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7"/>
          <p:cNvSpPr/>
          <p:nvPr/>
        </p:nvSpPr>
        <p:spPr>
          <a:xfrm>
            <a:off x="4244125" y="-3"/>
            <a:ext cx="4899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5" name="Google Shape;485;p57"/>
          <p:cNvSpPr/>
          <p:nvPr/>
        </p:nvSpPr>
        <p:spPr>
          <a:xfrm>
            <a:off x="25" y="1804403"/>
            <a:ext cx="4244100" cy="256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6" name="Google Shape;486;p5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57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Missing Third</a:t>
            </a:r>
            <a:endParaRPr/>
          </a:p>
        </p:txBody>
      </p:sp>
      <p:sp>
        <p:nvSpPr>
          <p:cNvPr id="488" name="Google Shape;488;p57"/>
          <p:cNvSpPr txBox="1"/>
          <p:nvPr>
            <p:ph type="title"/>
          </p:nvPr>
        </p:nvSpPr>
        <p:spPr>
          <a:xfrm>
            <a:off x="273325" y="973625"/>
            <a:ext cx="3697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 i="1"/>
          </a:p>
        </p:txBody>
      </p:sp>
      <p:sp>
        <p:nvSpPr>
          <p:cNvPr id="489" name="Google Shape;489;p57"/>
          <p:cNvSpPr txBox="1"/>
          <p:nvPr>
            <p:ph idx="4294967295" type="title"/>
          </p:nvPr>
        </p:nvSpPr>
        <p:spPr>
          <a:xfrm>
            <a:off x="352500" y="2177100"/>
            <a:ext cx="3637800" cy="18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How can NYC improve access to affordable third spaces across neighborhoods?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490" name="Google Shape;490;p57"/>
          <p:cNvSpPr txBox="1"/>
          <p:nvPr>
            <p:ph idx="4294967295" type="title"/>
          </p:nvPr>
        </p:nvSpPr>
        <p:spPr>
          <a:xfrm>
            <a:off x="4677750" y="973625"/>
            <a:ext cx="4062300" cy="12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 sz="1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" sz="1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,192 observations</a:t>
            </a:r>
            <a:endParaRPr sz="1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 sz="1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Dependent Variable: Log of Access</a:t>
            </a:r>
            <a:endParaRPr sz="1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-"/>
            </a:pPr>
            <a:r>
              <a:rPr lang="en" sz="1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Independent Variables: Income, Density, Poverty, Population, Youth %, Older %</a:t>
            </a:r>
            <a:endParaRPr sz="1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491" name="Google Shape;491;p57"/>
          <p:cNvSpPr txBox="1"/>
          <p:nvPr>
            <p:ph type="title"/>
          </p:nvPr>
        </p:nvSpPr>
        <p:spPr>
          <a:xfrm>
            <a:off x="4845325" y="475025"/>
            <a:ext cx="3697500" cy="3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Our Dataset</a:t>
            </a:r>
            <a:endParaRPr i="1" sz="2400"/>
          </a:p>
        </p:txBody>
      </p:sp>
      <p:sp>
        <p:nvSpPr>
          <p:cNvPr id="492" name="Google Shape;492;p57"/>
          <p:cNvSpPr txBox="1"/>
          <p:nvPr>
            <p:ph type="title"/>
          </p:nvPr>
        </p:nvSpPr>
        <p:spPr>
          <a:xfrm>
            <a:off x="4845325" y="4288250"/>
            <a:ext cx="36975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Our Approach</a:t>
            </a:r>
            <a:endParaRPr i="1" sz="1900"/>
          </a:p>
        </p:txBody>
      </p:sp>
      <p:sp>
        <p:nvSpPr>
          <p:cNvPr id="493" name="Google Shape;493;p57"/>
          <p:cNvSpPr txBox="1"/>
          <p:nvPr>
            <p:ph idx="4294967295" type="title"/>
          </p:nvPr>
        </p:nvSpPr>
        <p:spPr>
          <a:xfrm>
            <a:off x="4662925" y="4551350"/>
            <a:ext cx="4062300" cy="3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Econometric Analysis + Policy Design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494" name="Google Shape;494;p57" title="IMG_243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2525" y="2249975"/>
            <a:ext cx="4163101" cy="1859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8"/>
          <p:cNvSpPr/>
          <p:nvPr/>
        </p:nvSpPr>
        <p:spPr>
          <a:xfrm>
            <a:off x="4565475" y="732776"/>
            <a:ext cx="4578600" cy="127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0" name="Google Shape;500;p58"/>
          <p:cNvSpPr/>
          <p:nvPr/>
        </p:nvSpPr>
        <p:spPr>
          <a:xfrm>
            <a:off x="4565475" y="2009342"/>
            <a:ext cx="4578600" cy="1276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1" name="Google Shape;501;p58"/>
          <p:cNvSpPr/>
          <p:nvPr/>
        </p:nvSpPr>
        <p:spPr>
          <a:xfrm>
            <a:off x="4565475" y="3281209"/>
            <a:ext cx="4578600" cy="12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2" name="Google Shape;502;p5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5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 Missing Third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04" name="Google Shape;504;p58"/>
          <p:cNvSpPr txBox="1"/>
          <p:nvPr>
            <p:ph idx="2" type="body"/>
          </p:nvPr>
        </p:nvSpPr>
        <p:spPr>
          <a:xfrm>
            <a:off x="4845475" y="1361028"/>
            <a:ext cx="33825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every neighborhood has convenient access to third spaces.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58"/>
          <p:cNvSpPr txBox="1"/>
          <p:nvPr>
            <p:ph idx="3" type="subTitle"/>
          </p:nvPr>
        </p:nvSpPr>
        <p:spPr>
          <a:xfrm>
            <a:off x="4845475" y="1028376"/>
            <a:ext cx="33825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Physical Accessibility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58"/>
          <p:cNvSpPr txBox="1"/>
          <p:nvPr>
            <p:ph idx="4" type="body"/>
          </p:nvPr>
        </p:nvSpPr>
        <p:spPr>
          <a:xfrm>
            <a:off x="4845475" y="2595865"/>
            <a:ext cx="33825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Vacant commercial properties represent potential community-space opportunities.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58"/>
          <p:cNvSpPr txBox="1"/>
          <p:nvPr>
            <p:ph idx="5" type="subTitle"/>
          </p:nvPr>
        </p:nvSpPr>
        <p:spPr>
          <a:xfrm>
            <a:off x="4845475" y="2263215"/>
            <a:ext cx="33825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Underutilized Infrastructure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8"/>
          <p:cNvSpPr txBox="1"/>
          <p:nvPr>
            <p:ph idx="6" type="body"/>
          </p:nvPr>
        </p:nvSpPr>
        <p:spPr>
          <a:xfrm>
            <a:off x="4845475" y="3870078"/>
            <a:ext cx="33825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cost of social activities may discourage participation.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8"/>
          <p:cNvSpPr txBox="1"/>
          <p:nvPr>
            <p:ph idx="7" type="subTitle"/>
          </p:nvPr>
        </p:nvSpPr>
        <p:spPr>
          <a:xfrm>
            <a:off x="4845475" y="3537427"/>
            <a:ext cx="33825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Financial Accessibility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58"/>
          <p:cNvSpPr txBox="1"/>
          <p:nvPr>
            <p:ph type="title"/>
          </p:nvPr>
        </p:nvSpPr>
        <p:spPr>
          <a:xfrm>
            <a:off x="399750" y="2233055"/>
            <a:ext cx="38601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Three Barriers to Social Accessibility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9"/>
          <p:cNvSpPr/>
          <p:nvPr/>
        </p:nvSpPr>
        <p:spPr>
          <a:xfrm>
            <a:off x="2286125" y="2415600"/>
            <a:ext cx="2294400" cy="2727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6" name="Google Shape;516;p59"/>
          <p:cNvSpPr/>
          <p:nvPr/>
        </p:nvSpPr>
        <p:spPr>
          <a:xfrm>
            <a:off x="4565475" y="2415550"/>
            <a:ext cx="2294400" cy="272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7" name="Google Shape;517;p59"/>
          <p:cNvSpPr/>
          <p:nvPr/>
        </p:nvSpPr>
        <p:spPr>
          <a:xfrm>
            <a:off x="6849550" y="2415550"/>
            <a:ext cx="2294400" cy="2727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8" name="Google Shape;518;p59"/>
          <p:cNvSpPr/>
          <p:nvPr/>
        </p:nvSpPr>
        <p:spPr>
          <a:xfrm>
            <a:off x="75" y="2415600"/>
            <a:ext cx="2294400" cy="272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9" name="Google Shape;519;p59"/>
          <p:cNvSpPr txBox="1"/>
          <p:nvPr>
            <p:ph idx="1" type="body"/>
          </p:nvPr>
        </p:nvSpPr>
        <p:spPr>
          <a:xfrm>
            <a:off x="2607063" y="3337798"/>
            <a:ext cx="1645800" cy="6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 Light"/>
                <a:ea typeface="DM Sans Light"/>
                <a:cs typeface="DM Sans Light"/>
                <a:sym typeface="DM Sans Light"/>
              </a:rPr>
              <a:t>log(Access) = B0 + B1log(Income) + B2log(Density) + e</a:t>
            </a:r>
            <a:endParaRPr sz="12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20" name="Google Shape;520;p59"/>
          <p:cNvSpPr txBox="1"/>
          <p:nvPr>
            <p:ph idx="2" type="subTitle"/>
          </p:nvPr>
        </p:nvSpPr>
        <p:spPr>
          <a:xfrm>
            <a:off x="2607068" y="2718249"/>
            <a:ext cx="1645800" cy="2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2: Income + Density</a:t>
            </a:r>
            <a:endParaRPr/>
          </a:p>
        </p:txBody>
      </p:sp>
      <p:sp>
        <p:nvSpPr>
          <p:cNvPr id="521" name="Google Shape;521;p59"/>
          <p:cNvSpPr txBox="1"/>
          <p:nvPr>
            <p:ph idx="4294967295" type="subTitle"/>
          </p:nvPr>
        </p:nvSpPr>
        <p:spPr>
          <a:xfrm>
            <a:off x="2490450" y="732775"/>
            <a:ext cx="4163100" cy="1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522" name="Google Shape;522;p5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5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24" name="Google Shape;524;p59"/>
          <p:cNvSpPr txBox="1"/>
          <p:nvPr>
            <p:ph idx="4" type="body"/>
          </p:nvPr>
        </p:nvSpPr>
        <p:spPr>
          <a:xfrm>
            <a:off x="4892138" y="3337798"/>
            <a:ext cx="1645800" cy="6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 Light"/>
                <a:ea typeface="DM Sans Light"/>
                <a:cs typeface="DM Sans Light"/>
                <a:sym typeface="DM Sans Light"/>
              </a:rPr>
              <a:t>log(Access) = B0 + B1log(Income) + B2log(Density) + B3Poverty + B4Youth + B5Older + B6Population + e</a:t>
            </a:r>
            <a:endParaRPr sz="12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25" name="Google Shape;525;p59"/>
          <p:cNvSpPr txBox="1"/>
          <p:nvPr>
            <p:ph idx="5" type="subTitle"/>
          </p:nvPr>
        </p:nvSpPr>
        <p:spPr>
          <a:xfrm>
            <a:off x="4853438" y="2714471"/>
            <a:ext cx="1723200" cy="2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3: Full Socioeconomic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9"/>
          <p:cNvSpPr txBox="1"/>
          <p:nvPr>
            <p:ph idx="6" type="body"/>
          </p:nvPr>
        </p:nvSpPr>
        <p:spPr>
          <a:xfrm>
            <a:off x="7172475" y="3391648"/>
            <a:ext cx="16458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 Light"/>
                <a:ea typeface="DM Sans Light"/>
                <a:cs typeface="DM Sans Light"/>
                <a:sym typeface="DM Sans Light"/>
              </a:rPr>
              <a:t>Model 3 + Income × Density Interaction</a:t>
            </a:r>
            <a:endParaRPr sz="12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27" name="Google Shape;527;p59"/>
          <p:cNvSpPr txBox="1"/>
          <p:nvPr>
            <p:ph idx="7" type="subTitle"/>
          </p:nvPr>
        </p:nvSpPr>
        <p:spPr>
          <a:xfrm>
            <a:off x="7130874" y="2718261"/>
            <a:ext cx="1645800" cy="2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4: Interaction Model</a:t>
            </a:r>
            <a:endParaRPr/>
          </a:p>
        </p:txBody>
      </p:sp>
      <p:sp>
        <p:nvSpPr>
          <p:cNvPr id="528" name="Google Shape;528;p59"/>
          <p:cNvSpPr txBox="1"/>
          <p:nvPr>
            <p:ph idx="8" type="body"/>
          </p:nvPr>
        </p:nvSpPr>
        <p:spPr>
          <a:xfrm>
            <a:off x="275675" y="3437098"/>
            <a:ext cx="18189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M Sans Light"/>
                <a:ea typeface="DM Sans Light"/>
                <a:cs typeface="DM Sans Light"/>
                <a:sym typeface="DM Sans Light"/>
              </a:rPr>
              <a:t>log(Access) = B0 + B1*log(Income) + e</a:t>
            </a:r>
            <a:endParaRPr sz="1200"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29" name="Google Shape;529;p59"/>
          <p:cNvSpPr txBox="1"/>
          <p:nvPr>
            <p:ph idx="9" type="subTitle"/>
          </p:nvPr>
        </p:nvSpPr>
        <p:spPr>
          <a:xfrm>
            <a:off x="367408" y="2718261"/>
            <a:ext cx="1645800" cy="2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1: Income Only</a:t>
            </a:r>
            <a:endParaRPr/>
          </a:p>
        </p:txBody>
      </p:sp>
      <p:cxnSp>
        <p:nvCxnSpPr>
          <p:cNvPr id="530" name="Google Shape;530;p59"/>
          <p:cNvCxnSpPr/>
          <p:nvPr/>
        </p:nvCxnSpPr>
        <p:spPr>
          <a:xfrm>
            <a:off x="362225" y="4532264"/>
            <a:ext cx="1645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59"/>
          <p:cNvCxnSpPr/>
          <p:nvPr/>
        </p:nvCxnSpPr>
        <p:spPr>
          <a:xfrm>
            <a:off x="362225" y="4681091"/>
            <a:ext cx="1645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59"/>
          <p:cNvCxnSpPr/>
          <p:nvPr/>
        </p:nvCxnSpPr>
        <p:spPr>
          <a:xfrm>
            <a:off x="4889775" y="4532264"/>
            <a:ext cx="1645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59"/>
          <p:cNvCxnSpPr/>
          <p:nvPr/>
        </p:nvCxnSpPr>
        <p:spPr>
          <a:xfrm>
            <a:off x="4889775" y="4681091"/>
            <a:ext cx="1645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59"/>
          <p:cNvCxnSpPr/>
          <p:nvPr/>
        </p:nvCxnSpPr>
        <p:spPr>
          <a:xfrm>
            <a:off x="2625150" y="4532264"/>
            <a:ext cx="164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59"/>
          <p:cNvCxnSpPr/>
          <p:nvPr/>
        </p:nvCxnSpPr>
        <p:spPr>
          <a:xfrm>
            <a:off x="2625150" y="4681091"/>
            <a:ext cx="164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59"/>
          <p:cNvCxnSpPr/>
          <p:nvPr/>
        </p:nvCxnSpPr>
        <p:spPr>
          <a:xfrm>
            <a:off x="7130875" y="4532264"/>
            <a:ext cx="164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59"/>
          <p:cNvCxnSpPr/>
          <p:nvPr/>
        </p:nvCxnSpPr>
        <p:spPr>
          <a:xfrm>
            <a:off x="7130875" y="4681091"/>
            <a:ext cx="164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8" name="Google Shape;538;p59"/>
          <p:cNvSpPr txBox="1"/>
          <p:nvPr>
            <p:ph type="title"/>
          </p:nvPr>
        </p:nvSpPr>
        <p:spPr>
          <a:xfrm>
            <a:off x="277375" y="688500"/>
            <a:ext cx="5580600" cy="17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Econometric Methodology</a:t>
            </a:r>
            <a:endParaRPr sz="2700"/>
          </a:p>
        </p:txBody>
      </p:sp>
      <p:cxnSp>
        <p:nvCxnSpPr>
          <p:cNvPr id="539" name="Google Shape;539;p59"/>
          <p:cNvCxnSpPr/>
          <p:nvPr/>
        </p:nvCxnSpPr>
        <p:spPr>
          <a:xfrm>
            <a:off x="362225" y="4818548"/>
            <a:ext cx="1645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59"/>
          <p:cNvCxnSpPr/>
          <p:nvPr/>
        </p:nvCxnSpPr>
        <p:spPr>
          <a:xfrm>
            <a:off x="4889775" y="4818548"/>
            <a:ext cx="1645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59"/>
          <p:cNvCxnSpPr/>
          <p:nvPr/>
        </p:nvCxnSpPr>
        <p:spPr>
          <a:xfrm>
            <a:off x="2625150" y="4818548"/>
            <a:ext cx="164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59"/>
          <p:cNvCxnSpPr/>
          <p:nvPr/>
        </p:nvCxnSpPr>
        <p:spPr>
          <a:xfrm>
            <a:off x="7130875" y="4818548"/>
            <a:ext cx="164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0"/>
          <p:cNvSpPr txBox="1"/>
          <p:nvPr>
            <p:ph idx="4" type="subTitle"/>
          </p:nvPr>
        </p:nvSpPr>
        <p:spPr>
          <a:xfrm>
            <a:off x="361975" y="3691150"/>
            <a:ext cx="2879700" cy="200400"/>
          </a:xfrm>
          <a:prstGeom prst="rect">
            <a:avLst/>
          </a:prstGeom>
        </p:spPr>
        <p:txBody>
          <a:bodyPr anchorCtr="0" anchor="t" bIns="83450" lIns="83450" spcFirstLastPara="1" rIns="83450" wrap="square" tIns="8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Poverty in Model 3: +0.020***</a:t>
            </a:r>
            <a:endParaRPr sz="134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3"/>
          </a:p>
        </p:txBody>
      </p:sp>
      <p:sp>
        <p:nvSpPr>
          <p:cNvPr id="548" name="Google Shape;548;p60"/>
          <p:cNvSpPr txBox="1"/>
          <p:nvPr>
            <p:ph idx="6" type="subTitle"/>
          </p:nvPr>
        </p:nvSpPr>
        <p:spPr>
          <a:xfrm>
            <a:off x="361975" y="4055150"/>
            <a:ext cx="3222000" cy="325200"/>
          </a:xfrm>
          <a:prstGeom prst="rect">
            <a:avLst/>
          </a:prstGeom>
        </p:spPr>
        <p:txBody>
          <a:bodyPr anchorCtr="0" anchor="t" bIns="83450" lIns="83450" spcFirstLastPara="1" rIns="83450" wrap="square" tIns="8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2"/>
              <a:t>Income × Density in Model 4: +0.040 (not significant)</a:t>
            </a:r>
            <a:endParaRPr sz="125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3"/>
          </a:p>
        </p:txBody>
      </p:sp>
      <p:sp>
        <p:nvSpPr>
          <p:cNvPr id="549" name="Google Shape;549;p60"/>
          <p:cNvSpPr txBox="1"/>
          <p:nvPr>
            <p:ph idx="1" type="subTitle"/>
          </p:nvPr>
        </p:nvSpPr>
        <p:spPr>
          <a:xfrm>
            <a:off x="361975" y="3290393"/>
            <a:ext cx="2879700" cy="200400"/>
          </a:xfrm>
          <a:prstGeom prst="rect">
            <a:avLst/>
          </a:prstGeom>
        </p:spPr>
        <p:txBody>
          <a:bodyPr anchorCtr="0" anchor="t" bIns="83450" lIns="83450" spcFirstLastPara="1" rIns="83450" wrap="square" tIns="8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3"/>
              <a:t>Density in Model 3: +0.435***</a:t>
            </a:r>
            <a:endParaRPr sz="134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3"/>
          </a:p>
        </p:txBody>
      </p:sp>
      <p:sp>
        <p:nvSpPr>
          <p:cNvPr id="550" name="Google Shape;550;p60"/>
          <p:cNvSpPr txBox="1"/>
          <p:nvPr>
            <p:ph type="title"/>
          </p:nvPr>
        </p:nvSpPr>
        <p:spPr>
          <a:xfrm>
            <a:off x="361975" y="962100"/>
            <a:ext cx="4163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Regression Results</a:t>
            </a:r>
            <a:endParaRPr i="1"/>
          </a:p>
        </p:txBody>
      </p:sp>
      <p:sp>
        <p:nvSpPr>
          <p:cNvPr id="551" name="Google Shape;551;p6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60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Missing Third</a:t>
            </a:r>
            <a:endParaRPr/>
          </a:p>
        </p:txBody>
      </p:sp>
      <p:cxnSp>
        <p:nvCxnSpPr>
          <p:cNvPr id="553" name="Google Shape;553;p60"/>
          <p:cNvCxnSpPr/>
          <p:nvPr/>
        </p:nvCxnSpPr>
        <p:spPr>
          <a:xfrm>
            <a:off x="377037" y="3609324"/>
            <a:ext cx="3514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60"/>
          <p:cNvCxnSpPr/>
          <p:nvPr/>
        </p:nvCxnSpPr>
        <p:spPr>
          <a:xfrm>
            <a:off x="377037" y="4055155"/>
            <a:ext cx="3514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60"/>
          <p:cNvCxnSpPr/>
          <p:nvPr/>
        </p:nvCxnSpPr>
        <p:spPr>
          <a:xfrm>
            <a:off x="377037" y="4543950"/>
            <a:ext cx="3514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" name="Google Shape;556;p60"/>
          <p:cNvSpPr txBox="1"/>
          <p:nvPr/>
        </p:nvSpPr>
        <p:spPr>
          <a:xfrm>
            <a:off x="3479625" y="3310985"/>
            <a:ext cx="4122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375" lIns="75375" spcFirstLastPara="1" rIns="113075" wrap="square" tIns="75375">
            <a:noAutofit/>
          </a:bodyPr>
          <a:lstStyle/>
          <a:p>
            <a:pPr indent="-272208" lvl="0" marL="376904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19"/>
              <a:buFont typeface="Newsreader"/>
              <a:buChar char="➔"/>
            </a:pPr>
            <a:r>
              <a:t/>
            </a:r>
            <a:endParaRPr sz="1319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57" name="Google Shape;557;p60"/>
          <p:cNvSpPr txBox="1"/>
          <p:nvPr/>
        </p:nvSpPr>
        <p:spPr>
          <a:xfrm>
            <a:off x="3479625" y="3616449"/>
            <a:ext cx="4122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375" lIns="75375" spcFirstLastPara="1" rIns="113075" wrap="square" tIns="75375">
            <a:noAutofit/>
          </a:bodyPr>
          <a:lstStyle/>
          <a:p>
            <a:pPr indent="-272208" lvl="0" marL="376904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19"/>
              <a:buFont typeface="Newsreader"/>
              <a:buChar char="➔"/>
            </a:pPr>
            <a:r>
              <a:t/>
            </a:r>
            <a:endParaRPr sz="1319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58" name="Google Shape;558;p60"/>
          <p:cNvSpPr txBox="1"/>
          <p:nvPr/>
        </p:nvSpPr>
        <p:spPr>
          <a:xfrm>
            <a:off x="3479625" y="4192612"/>
            <a:ext cx="4122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375" lIns="75375" spcFirstLastPara="1" rIns="113075" wrap="square" tIns="75375">
            <a:noAutofit/>
          </a:bodyPr>
          <a:lstStyle/>
          <a:p>
            <a:pPr indent="-272208" lvl="0" marL="376904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19"/>
              <a:buFont typeface="Newsreader"/>
              <a:buChar char="➔"/>
            </a:pPr>
            <a:r>
              <a:t/>
            </a:r>
            <a:endParaRPr sz="1319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pic>
        <p:nvPicPr>
          <p:cNvPr id="559" name="Google Shape;559;p60" title="Screenshot 2026-10-23 at 1.20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7125" y="217725"/>
            <a:ext cx="3790107" cy="4627551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60"/>
          <p:cNvSpPr txBox="1"/>
          <p:nvPr>
            <p:ph type="title"/>
          </p:nvPr>
        </p:nvSpPr>
        <p:spPr>
          <a:xfrm>
            <a:off x="361975" y="3068688"/>
            <a:ext cx="3697500" cy="22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Additional Findings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6" name="Google Shape;566;p6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Missing Third</a:t>
            </a:r>
            <a:endParaRPr/>
          </a:p>
        </p:txBody>
      </p:sp>
      <p:sp>
        <p:nvSpPr>
          <p:cNvPr id="567" name="Google Shape;567;p6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Goal: Improve physical access to third spaces.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1"/>
          <p:cNvSpPr txBox="1"/>
          <p:nvPr>
            <p:ph type="title"/>
          </p:nvPr>
        </p:nvSpPr>
        <p:spPr>
          <a:xfrm>
            <a:off x="719450" y="988550"/>
            <a:ext cx="77052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The 15-Minute Social City</a:t>
            </a:r>
            <a:endParaRPr i="1" sz="4800"/>
          </a:p>
        </p:txBody>
      </p:sp>
      <p:pic>
        <p:nvPicPr>
          <p:cNvPr id="569" name="Google Shape;569;p61"/>
          <p:cNvPicPr preferRelativeResize="0"/>
          <p:nvPr/>
        </p:nvPicPr>
        <p:blipFill rotWithShape="1">
          <a:blip r:embed="rId3">
            <a:alphaModFix/>
          </a:blip>
          <a:srcRect b="0" l="22743" r="22743" t="0"/>
          <a:stretch/>
        </p:blipFill>
        <p:spPr>
          <a:xfrm>
            <a:off x="3675000" y="1829325"/>
            <a:ext cx="1700100" cy="20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E0DA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2"/>
          <p:cNvSpPr txBox="1"/>
          <p:nvPr/>
        </p:nvSpPr>
        <p:spPr>
          <a:xfrm>
            <a:off x="248250" y="1522425"/>
            <a:ext cx="219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DM Sans"/>
                <a:ea typeface="DM Sans"/>
                <a:cs typeface="DM Sans"/>
                <a:sym typeface="DM Sans"/>
              </a:rPr>
              <a:t>Budget: $750,000</a:t>
            </a:r>
            <a:endParaRPr b="1"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5" name="Google Shape;575;p6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62"/>
          <p:cNvSpPr txBox="1"/>
          <p:nvPr>
            <p:ph idx="1" type="subTitle"/>
          </p:nvPr>
        </p:nvSpPr>
        <p:spPr>
          <a:xfrm>
            <a:off x="248238" y="131700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Missing Third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62"/>
          <p:cNvSpPr txBox="1"/>
          <p:nvPr>
            <p:ph idx="2" type="subTitle"/>
          </p:nvPr>
        </p:nvSpPr>
        <p:spPr>
          <a:xfrm>
            <a:off x="3154650" y="1051772"/>
            <a:ext cx="4163100" cy="2772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POLICY 1: THE 15-MINUTE SOCIAL CITY</a:t>
            </a:r>
            <a:endParaRPr sz="1800"/>
          </a:p>
        </p:txBody>
      </p:sp>
      <p:sp>
        <p:nvSpPr>
          <p:cNvPr id="578" name="Google Shape;578;p6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Implementation</a:t>
            </a:r>
            <a:endParaRPr sz="2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Identify 5 underserved neighborhoods.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Fund existing libraries and community facilities.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Expand opening hours and public programming.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Require free public entry.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Pilot Targets</a:t>
            </a:r>
            <a:endParaRPr sz="2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+20% accessible third-space availability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-15% average walking distance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descr="USA, California, Los Angeles, 110 and 101 freeway interchange (Provided by Getty Images)" id="579" name="Google Shape;579;p62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41154" l="0" r="0" t="28911"/>
          <a:stretch/>
        </p:blipFill>
        <p:spPr>
          <a:xfrm>
            <a:off x="3013075" y="0"/>
            <a:ext cx="6135276" cy="858325"/>
          </a:xfrm>
          <a:prstGeom prst="rect">
            <a:avLst/>
          </a:prstGeom>
        </p:spPr>
      </p:pic>
      <p:cxnSp>
        <p:nvCxnSpPr>
          <p:cNvPr id="580" name="Google Shape;580;p62"/>
          <p:cNvCxnSpPr/>
          <p:nvPr/>
        </p:nvCxnSpPr>
        <p:spPr>
          <a:xfrm flipH="1" rot="10800000">
            <a:off x="3136850" y="1522425"/>
            <a:ext cx="50742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81" name="Google Shape;581;p62"/>
          <p:cNvGraphicFramePr/>
          <p:nvPr/>
        </p:nvGraphicFramePr>
        <p:xfrm>
          <a:off x="361963" y="2037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{405B65F9-31A8-4D6B-9503-DF779E4DBBDC}</a:tableStyleId>
              </a:tblPr>
              <a:tblGrid>
                <a:gridCol w="1479550"/>
                <a:gridCol w="1050925"/>
              </a:tblGrid>
              <a:tr h="317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Expense</a:t>
                      </a:r>
                      <a:endParaRPr sz="1100" u="sng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</a:t>
                      </a:r>
                      <a:endParaRPr sz="1100" u="sng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/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Community grants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$500,000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/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Mapping and analysis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$50,000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/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Programming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$100,000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/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Evaluation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$50,000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/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Contingency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$50,000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7" name="Google Shape;587;p6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Missing Third</a:t>
            </a:r>
            <a:endParaRPr/>
          </a:p>
        </p:txBody>
      </p:sp>
      <p:sp>
        <p:nvSpPr>
          <p:cNvPr id="588" name="Google Shape;588;p63"/>
          <p:cNvSpPr txBox="1"/>
          <p:nvPr>
            <p:ph type="title"/>
          </p:nvPr>
        </p:nvSpPr>
        <p:spPr>
          <a:xfrm>
            <a:off x="719450" y="988550"/>
            <a:ext cx="7705200" cy="14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Empty Spaces, </a:t>
            </a:r>
            <a:endParaRPr sz="4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Full </a:t>
            </a:r>
            <a:r>
              <a:rPr lang="en" sz="4800"/>
              <a:t>Communities</a:t>
            </a:r>
            <a:endParaRPr i="1" sz="4800"/>
          </a:p>
        </p:txBody>
      </p:sp>
      <p:pic>
        <p:nvPicPr>
          <p:cNvPr id="589" name="Google Shape;589;p63"/>
          <p:cNvPicPr preferRelativeResize="0"/>
          <p:nvPr/>
        </p:nvPicPr>
        <p:blipFill rotWithShape="1">
          <a:blip r:embed="rId3">
            <a:alphaModFix/>
          </a:blip>
          <a:srcRect b="31999" l="0" r="0" t="31995"/>
          <a:stretch/>
        </p:blipFill>
        <p:spPr>
          <a:xfrm>
            <a:off x="2228400" y="2769213"/>
            <a:ext cx="4687200" cy="11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63"/>
          <p:cNvSpPr txBox="1"/>
          <p:nvPr>
            <p:ph idx="2" type="body"/>
          </p:nvPr>
        </p:nvSpPr>
        <p:spPr>
          <a:xfrm>
            <a:off x="1560600" y="4195300"/>
            <a:ext cx="60228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Goal: Convert vacant storefronts into community spaces.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BF9E">
            <a:alpha val="84180"/>
          </a:srgbClr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4"/>
          <p:cNvSpPr txBox="1"/>
          <p:nvPr/>
        </p:nvSpPr>
        <p:spPr>
          <a:xfrm>
            <a:off x="248250" y="1533825"/>
            <a:ext cx="219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DM Sans"/>
                <a:ea typeface="DM Sans"/>
                <a:cs typeface="DM Sans"/>
                <a:sym typeface="DM Sans"/>
              </a:rPr>
              <a:t>Budget: $600,000</a:t>
            </a:r>
            <a:endParaRPr b="1"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6" name="Google Shape;596;p6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7" name="Google Shape;597;p64"/>
          <p:cNvSpPr txBox="1"/>
          <p:nvPr>
            <p:ph idx="1" type="subTitle"/>
          </p:nvPr>
        </p:nvSpPr>
        <p:spPr>
          <a:xfrm>
            <a:off x="248238" y="131700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Missing Third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64"/>
          <p:cNvSpPr txBox="1"/>
          <p:nvPr>
            <p:ph idx="2" type="subTitle"/>
          </p:nvPr>
        </p:nvSpPr>
        <p:spPr>
          <a:xfrm>
            <a:off x="3154650" y="1051775"/>
            <a:ext cx="4941300" cy="2772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POLICY 2: EMPTY SPACES, FULL COMMUNITIES</a:t>
            </a:r>
            <a:endParaRPr sz="1800"/>
          </a:p>
        </p:txBody>
      </p:sp>
      <p:sp>
        <p:nvSpPr>
          <p:cNvPr id="599" name="Google Shape;599;p6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Implementation</a:t>
            </a:r>
            <a:endParaRPr sz="2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Identify 10 suitable vacant storefronts.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Offer rent subsidies to landlords.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Provide basic renovation grants.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Partner with nonprofit organizations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Pilot Targets</a:t>
            </a:r>
            <a:endParaRPr sz="2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10 activated storefronts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70% programming-hour utilization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5 spaces sustained after the pilot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600" name="Google Shape;600;p64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30203" l="1490" r="-1490" t="55807"/>
          <a:stretch/>
        </p:blipFill>
        <p:spPr>
          <a:xfrm>
            <a:off x="3013075" y="0"/>
            <a:ext cx="6135276" cy="858326"/>
          </a:xfrm>
          <a:prstGeom prst="rect">
            <a:avLst/>
          </a:prstGeom>
        </p:spPr>
      </p:pic>
      <p:cxnSp>
        <p:nvCxnSpPr>
          <p:cNvPr id="601" name="Google Shape;601;p64"/>
          <p:cNvCxnSpPr/>
          <p:nvPr/>
        </p:nvCxnSpPr>
        <p:spPr>
          <a:xfrm flipH="1" rot="10800000">
            <a:off x="3136850" y="1522425"/>
            <a:ext cx="50742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602" name="Google Shape;602;p64"/>
          <p:cNvGraphicFramePr/>
          <p:nvPr/>
        </p:nvGraphicFramePr>
        <p:xfrm>
          <a:off x="361963" y="204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{405B65F9-31A8-4D6B-9503-DF779E4DBBDC}</a:tableStyleId>
              </a:tblPr>
              <a:tblGrid>
                <a:gridCol w="1479550"/>
                <a:gridCol w="1027100"/>
              </a:tblGrid>
              <a:tr h="317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Expense</a:t>
                      </a:r>
                      <a:endParaRPr sz="1100" u="sng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</a:t>
                      </a:r>
                      <a:endParaRPr sz="1100" u="sng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Rent subsidies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$240,000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Renovations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$150,000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Programming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$100,000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Administration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$60,000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Evaluation and contingency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$50,000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8" name="Google Shape;608;p6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Missing Third</a:t>
            </a:r>
            <a:endParaRPr/>
          </a:p>
        </p:txBody>
      </p:sp>
      <p:sp>
        <p:nvSpPr>
          <p:cNvPr id="609" name="Google Shape;609;p65"/>
          <p:cNvSpPr txBox="1"/>
          <p:nvPr>
            <p:ph type="title"/>
          </p:nvPr>
        </p:nvSpPr>
        <p:spPr>
          <a:xfrm>
            <a:off x="719450" y="988550"/>
            <a:ext cx="77052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The Price of Belonging</a:t>
            </a:r>
            <a:endParaRPr i="1" sz="4800"/>
          </a:p>
        </p:txBody>
      </p:sp>
      <p:pic>
        <p:nvPicPr>
          <p:cNvPr id="610" name="Google Shape;610;p65"/>
          <p:cNvPicPr preferRelativeResize="0"/>
          <p:nvPr/>
        </p:nvPicPr>
        <p:blipFill rotWithShape="1">
          <a:blip r:embed="rId3">
            <a:alphaModFix/>
          </a:blip>
          <a:srcRect b="0" l="3900" r="3900" t="0"/>
          <a:stretch/>
        </p:blipFill>
        <p:spPr>
          <a:xfrm>
            <a:off x="3093450" y="2012313"/>
            <a:ext cx="2957100" cy="189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65"/>
          <p:cNvSpPr txBox="1"/>
          <p:nvPr>
            <p:ph idx="2" type="body"/>
          </p:nvPr>
        </p:nvSpPr>
        <p:spPr>
          <a:xfrm>
            <a:off x="1267950" y="4131650"/>
            <a:ext cx="6608100" cy="648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Goal: Reduce financial barriers to social participation.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0B0B5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6"/>
          <p:cNvSpPr txBox="1"/>
          <p:nvPr/>
        </p:nvSpPr>
        <p:spPr>
          <a:xfrm>
            <a:off x="248250" y="1533825"/>
            <a:ext cx="219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DM Sans"/>
                <a:ea typeface="DM Sans"/>
                <a:cs typeface="DM Sans"/>
                <a:sym typeface="DM Sans"/>
              </a:rPr>
              <a:t>Budget: $600,000</a:t>
            </a:r>
            <a:endParaRPr b="1"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7" name="Google Shape;617;p6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8" name="Google Shape;618;p66"/>
          <p:cNvSpPr txBox="1"/>
          <p:nvPr>
            <p:ph idx="1" type="subTitle"/>
          </p:nvPr>
        </p:nvSpPr>
        <p:spPr>
          <a:xfrm>
            <a:off x="248238" y="131700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Missing Third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66"/>
          <p:cNvSpPr txBox="1"/>
          <p:nvPr>
            <p:ph idx="2" type="subTitle"/>
          </p:nvPr>
        </p:nvSpPr>
        <p:spPr>
          <a:xfrm>
            <a:off x="3154650" y="1051775"/>
            <a:ext cx="4941300" cy="2772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POLICY 3: THE PRICE OF BELONGING</a:t>
            </a:r>
            <a:endParaRPr sz="1800"/>
          </a:p>
        </p:txBody>
      </p:sp>
      <p:sp>
        <p:nvSpPr>
          <p:cNvPr id="620" name="Google Shape;620;p66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Implementation</a:t>
            </a:r>
            <a:endParaRPr sz="2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2,000 eligible residents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$20 monthly Social Access Credits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At least 30 participating venues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Approved low-cost community activities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Pilot Targets</a:t>
            </a:r>
            <a:endParaRPr sz="2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70% credit utilization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+20% social visits relative to a comparison group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descr="3D render of man fashion shop (Provided by Getty Images)" id="621" name="Google Shape;621;p66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39896" l="0" r="0" t="39898"/>
          <a:stretch/>
        </p:blipFill>
        <p:spPr>
          <a:xfrm>
            <a:off x="3013075" y="0"/>
            <a:ext cx="6135276" cy="858326"/>
          </a:xfrm>
          <a:prstGeom prst="rect">
            <a:avLst/>
          </a:prstGeom>
        </p:spPr>
      </p:pic>
      <p:cxnSp>
        <p:nvCxnSpPr>
          <p:cNvPr id="622" name="Google Shape;622;p66"/>
          <p:cNvCxnSpPr/>
          <p:nvPr/>
        </p:nvCxnSpPr>
        <p:spPr>
          <a:xfrm flipH="1" rot="10800000">
            <a:off x="3136850" y="1522425"/>
            <a:ext cx="50742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623" name="Google Shape;623;p66"/>
          <p:cNvGraphicFramePr/>
          <p:nvPr/>
        </p:nvGraphicFramePr>
        <p:xfrm>
          <a:off x="361963" y="210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{405B65F9-31A8-4D6B-9503-DF779E4DBBDC}</a:tableStyleId>
              </a:tblPr>
              <a:tblGrid>
                <a:gridCol w="1479550"/>
                <a:gridCol w="991400"/>
              </a:tblGrid>
              <a:tr h="317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Expense</a:t>
                      </a:r>
                      <a:endParaRPr sz="1100" u="sng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</a:t>
                      </a:r>
                      <a:endParaRPr sz="1100" u="sng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Participation credits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$480,000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Administration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$40,000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Outreach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$30,000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Evaluation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$30,000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Contingency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$20,000</a:t>
                      </a:r>
                      <a:endParaRPr sz="11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7"/>
          <p:cNvSpPr/>
          <p:nvPr/>
        </p:nvSpPr>
        <p:spPr>
          <a:xfrm>
            <a:off x="50" y="2825475"/>
            <a:ext cx="2294400" cy="2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9" name="Google Shape;629;p67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0" name="Google Shape;630;p67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1" name="Google Shape;631;p67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2" name="Google Shape;632;p67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1-4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33" name="Google Shape;633;p6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4" name="Google Shape;634;p67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5-6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35" name="Google Shape;635;p67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7-9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36" name="Google Shape;636;p67"/>
          <p:cNvSpPr txBox="1"/>
          <p:nvPr/>
        </p:nvSpPr>
        <p:spPr>
          <a:xfrm>
            <a:off x="7230538" y="4481350"/>
            <a:ext cx="1365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10-12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37" name="Google Shape;637;p6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Missing Third</a:t>
            </a:r>
            <a:endParaRPr/>
          </a:p>
        </p:txBody>
      </p:sp>
      <p:sp>
        <p:nvSpPr>
          <p:cNvPr id="638" name="Google Shape;638;p67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639" name="Google Shape;639;p67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Planning and partnerships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67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Launch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1" name="Google Shape;641;p67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Operations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67"/>
          <p:cNvSpPr txBox="1"/>
          <p:nvPr>
            <p:ph idx="8" type="subTitle"/>
          </p:nvPr>
        </p:nvSpPr>
        <p:spPr>
          <a:xfrm>
            <a:off x="7238773" y="1057475"/>
            <a:ext cx="14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Evaluation and sustainability planning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8"/>
          <p:cNvSpPr/>
          <p:nvPr/>
        </p:nvSpPr>
        <p:spPr>
          <a:xfrm>
            <a:off x="4565475" y="375676"/>
            <a:ext cx="4578600" cy="146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8" name="Google Shape;648;p68"/>
          <p:cNvSpPr/>
          <p:nvPr/>
        </p:nvSpPr>
        <p:spPr>
          <a:xfrm>
            <a:off x="4565475" y="1845637"/>
            <a:ext cx="4578600" cy="146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9" name="Google Shape;649;p68"/>
          <p:cNvSpPr/>
          <p:nvPr/>
        </p:nvSpPr>
        <p:spPr>
          <a:xfrm>
            <a:off x="4565475" y="3310189"/>
            <a:ext cx="4578600" cy="1469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Aerial view of freeway interchange, Houston, Texas (Provided by Getty Images)" id="650" name="Google Shape;650;p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4657" l="0" r="0" t="24651"/>
          <a:stretch/>
        </p:blipFill>
        <p:spPr>
          <a:xfrm>
            <a:off x="8227974" y="979201"/>
            <a:ext cx="3140076" cy="1061703"/>
          </a:xfrm>
          <a:prstGeom prst="rect">
            <a:avLst/>
          </a:prstGeom>
          <a:noFill/>
          <a:ln cap="flat" cmpd="sng" w="16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1" name="Google Shape;651;p68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9969" l="0" r="0" t="39301"/>
          <a:stretch/>
        </p:blipFill>
        <p:spPr>
          <a:xfrm>
            <a:off x="8227974" y="2040912"/>
            <a:ext cx="3140076" cy="1061704"/>
          </a:xfrm>
          <a:prstGeom prst="rect">
            <a:avLst/>
          </a:prstGeom>
          <a:noFill/>
          <a:ln cap="flat" cmpd="sng" w="16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2" name="Google Shape;652;p68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7174" l="0" r="0" t="27179"/>
          <a:stretch/>
        </p:blipFill>
        <p:spPr>
          <a:xfrm>
            <a:off x="8227974" y="3102600"/>
            <a:ext cx="3140076" cy="1061703"/>
          </a:xfrm>
          <a:prstGeom prst="rect">
            <a:avLst/>
          </a:prstGeom>
          <a:noFill/>
          <a:ln cap="flat" cmpd="sng" w="16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3" name="Google Shape;653;p6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Missing Third</a:t>
            </a:r>
            <a:endParaRPr/>
          </a:p>
        </p:txBody>
      </p:sp>
      <p:sp>
        <p:nvSpPr>
          <p:cNvPr id="654" name="Google Shape;654;p68"/>
          <p:cNvSpPr txBox="1"/>
          <p:nvPr>
            <p:ph idx="2" type="body"/>
          </p:nvPr>
        </p:nvSpPr>
        <p:spPr>
          <a:xfrm>
            <a:off x="4845475" y="998689"/>
            <a:ext cx="33825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ACCESSIBILITY</a:t>
            </a:r>
            <a:endParaRPr/>
          </a:p>
        </p:txBody>
      </p:sp>
      <p:sp>
        <p:nvSpPr>
          <p:cNvPr id="655" name="Google Shape;655;p68"/>
          <p:cNvSpPr txBox="1"/>
          <p:nvPr>
            <p:ph idx="3" type="subTitle"/>
          </p:nvPr>
        </p:nvSpPr>
        <p:spPr>
          <a:xfrm>
            <a:off x="4845475" y="666041"/>
            <a:ext cx="33825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15-MINUTE SOCIAL CITY</a:t>
            </a:r>
            <a:endParaRPr/>
          </a:p>
        </p:txBody>
      </p:sp>
      <p:sp>
        <p:nvSpPr>
          <p:cNvPr id="656" name="Google Shape;656;p68"/>
          <p:cNvSpPr txBox="1"/>
          <p:nvPr>
            <p:ph idx="5" type="body"/>
          </p:nvPr>
        </p:nvSpPr>
        <p:spPr>
          <a:xfrm>
            <a:off x="4845475" y="3927448"/>
            <a:ext cx="33825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AFFORDABILITY</a:t>
            </a:r>
            <a:endParaRPr/>
          </a:p>
        </p:txBody>
      </p:sp>
      <p:sp>
        <p:nvSpPr>
          <p:cNvPr id="657" name="Google Shape;657;p68"/>
          <p:cNvSpPr txBox="1"/>
          <p:nvPr>
            <p:ph idx="6" type="subTitle"/>
          </p:nvPr>
        </p:nvSpPr>
        <p:spPr>
          <a:xfrm>
            <a:off x="4845475" y="3594791"/>
            <a:ext cx="33825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PRICE OF BELONGING</a:t>
            </a:r>
            <a:endParaRPr/>
          </a:p>
        </p:txBody>
      </p:sp>
      <p:sp>
        <p:nvSpPr>
          <p:cNvPr id="658" name="Google Shape;658;p68"/>
          <p:cNvSpPr txBox="1"/>
          <p:nvPr>
            <p:ph idx="7" type="body"/>
          </p:nvPr>
        </p:nvSpPr>
        <p:spPr>
          <a:xfrm>
            <a:off x="4845475" y="2431037"/>
            <a:ext cx="33825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AVAILABILITY</a:t>
            </a:r>
            <a:endParaRPr/>
          </a:p>
        </p:txBody>
      </p:sp>
      <p:sp>
        <p:nvSpPr>
          <p:cNvPr id="659" name="Google Shape;659;p68"/>
          <p:cNvSpPr txBox="1"/>
          <p:nvPr>
            <p:ph idx="8" type="subTitle"/>
          </p:nvPr>
        </p:nvSpPr>
        <p:spPr>
          <a:xfrm>
            <a:off x="4845475" y="2098390"/>
            <a:ext cx="33825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EMPTY SPACES, FULL COMMUNITIES</a:t>
            </a:r>
            <a:endParaRPr/>
          </a:p>
        </p:txBody>
      </p:sp>
      <p:sp>
        <p:nvSpPr>
          <p:cNvPr id="660" name="Google Shape;660;p68"/>
          <p:cNvSpPr txBox="1"/>
          <p:nvPr>
            <p:ph type="title"/>
          </p:nvPr>
        </p:nvSpPr>
        <p:spPr>
          <a:xfrm>
            <a:off x="248250" y="566000"/>
            <a:ext cx="41631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Policies. One Goal.</a:t>
            </a:r>
            <a:endParaRPr i="1"/>
          </a:p>
        </p:txBody>
      </p:sp>
      <p:sp>
        <p:nvSpPr>
          <p:cNvPr id="661" name="Google Shape;661;p68"/>
          <p:cNvSpPr txBox="1"/>
          <p:nvPr>
            <p:ph idx="4294967295" type="title"/>
          </p:nvPr>
        </p:nvSpPr>
        <p:spPr>
          <a:xfrm>
            <a:off x="248250" y="988550"/>
            <a:ext cx="4085700" cy="37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How We Measure Success:</a:t>
            </a:r>
            <a:endParaRPr b="1" sz="25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Walking accessibility and community visits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Storefront activation and utilization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Additional social participation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Cost per additional visit</a:t>
            </a:r>
            <a:endParaRPr sz="2400"/>
          </a:p>
        </p:txBody>
      </p:sp>
      <p:cxnSp>
        <p:nvCxnSpPr>
          <p:cNvPr id="662" name="Google Shape;662;p68"/>
          <p:cNvCxnSpPr/>
          <p:nvPr/>
        </p:nvCxnSpPr>
        <p:spPr>
          <a:xfrm flipH="1" rot="10800000">
            <a:off x="273850" y="988125"/>
            <a:ext cx="4024200" cy="12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9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Message</a:t>
            </a:r>
            <a:endParaRPr/>
          </a:p>
        </p:txBody>
      </p:sp>
      <p:pic>
        <p:nvPicPr>
          <p:cNvPr descr="contemporary loft office (Provided by Getty Images)" id="668" name="Google Shape;668;p6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1213" r="21207" t="0"/>
          <a:stretch/>
        </p:blipFill>
        <p:spPr>
          <a:xfrm flipH="1">
            <a:off x="953803" y="1066100"/>
            <a:ext cx="2664300" cy="3002699"/>
          </a:xfrm>
          <a:prstGeom prst="rect">
            <a:avLst/>
          </a:prstGeom>
        </p:spPr>
      </p:pic>
      <p:sp>
        <p:nvSpPr>
          <p:cNvPr id="669" name="Google Shape;669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0" name="Google Shape;670;p69"/>
          <p:cNvSpPr txBox="1"/>
          <p:nvPr>
            <p:ph idx="3" type="body"/>
          </p:nvPr>
        </p:nvSpPr>
        <p:spPr>
          <a:xfrm>
            <a:off x="4975925" y="1700299"/>
            <a:ext cx="3783600" cy="30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Our main goal is to make an efficient public </a:t>
            </a:r>
            <a:r>
              <a:rPr lang="en" sz="2400"/>
              <a:t>investment focused on the common New York resident.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69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Missing Third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0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Oldenburg, R. (1989). The great good place. Paragon House.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Klinenberg, E. (2018). Palaces for the people: How social infrastructure can help fight inequality, polarization, and the decline of civic life. Crown.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Chetty, R., Jackson, M. O., Kuchler, T., et al. (2022). Social capital II: Determinants of economic connectedness. Nature, 608, 122–134. </a:t>
            </a:r>
            <a:r>
              <a:rPr lang="en" sz="12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https://www.nature.com/articles/s41586-022-04997-3</a:t>
            </a:r>
            <a:endParaRPr sz="1200"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Moreno, C., Allam, Z., Chabaud, D., Gall, C., &amp; Pratlong, F. (2021). Introducing the “15-minute city”: Sustainability, resilience and place identity in future post-pandemic cities. Smart Cities, 4(1), 93–111. </a:t>
            </a:r>
            <a:r>
              <a:rPr lang="en" sz="12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https://www.mdpi.com/2624-6511/4/1/6</a:t>
            </a:r>
            <a:endParaRPr sz="1200"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New York City Office of the Comptroller. (2026). Who's minding the storefronts? An analysis of storefront vacancies in New York City. </a:t>
            </a:r>
            <a:r>
              <a:rPr lang="en" sz="1200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https://comptroller.nyc.gov/reports/whos-minding-the-storefronts/</a:t>
            </a:r>
            <a:endParaRPr sz="1200" u="sng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77" name="Google Shape;677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glass ceiling" id="678" name="Google Shape;678;p70"/>
          <p:cNvPicPr preferRelativeResize="0"/>
          <p:nvPr/>
        </p:nvPicPr>
        <p:blipFill rotWithShape="1">
          <a:blip r:embed="rId6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9" name="Google Shape;679;p70"/>
          <p:cNvCxnSpPr/>
          <p:nvPr/>
        </p:nvCxnSpPr>
        <p:spPr>
          <a:xfrm>
            <a:off x="358975" y="4551349"/>
            <a:ext cx="5362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1"/>
          <p:cNvSpPr txBox="1"/>
          <p:nvPr>
            <p:ph type="title"/>
          </p:nvPr>
        </p:nvSpPr>
        <p:spPr>
          <a:xfrm>
            <a:off x="342147" y="33378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2"/>
          <p:cNvSpPr/>
          <p:nvPr/>
        </p:nvSpPr>
        <p:spPr>
          <a:xfrm>
            <a:off x="5493600" y="75"/>
            <a:ext cx="3664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0" name="Google Shape;690;p7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91" name="Google Shape;691;p72"/>
          <p:cNvSpPr txBox="1"/>
          <p:nvPr>
            <p:ph idx="2" type="subTitle"/>
          </p:nvPr>
        </p:nvSpPr>
        <p:spPr>
          <a:xfrm>
            <a:off x="361975" y="809725"/>
            <a:ext cx="3860100" cy="36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COST STRUCTURE</a:t>
            </a:r>
            <a:endParaRPr sz="2400"/>
          </a:p>
        </p:txBody>
      </p:sp>
      <p:sp>
        <p:nvSpPr>
          <p:cNvPr id="692" name="Google Shape;692;p7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3" name="Google Shape;693;p72"/>
          <p:cNvSpPr txBox="1"/>
          <p:nvPr>
            <p:ph idx="6" type="subTitle"/>
          </p:nvPr>
        </p:nvSpPr>
        <p:spPr>
          <a:xfrm>
            <a:off x="5827400" y="821068"/>
            <a:ext cx="2613300" cy="3874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Municipal government: $915,000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Foundations: $525,000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Corporate sponsors: $390,000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Landlord contributions: $120,000 (potentially in-kind)</a:t>
            </a:r>
            <a:endParaRPr sz="1400"/>
          </a:p>
        </p:txBody>
      </p:sp>
      <p:cxnSp>
        <p:nvCxnSpPr>
          <p:cNvPr id="694" name="Google Shape;694;p72"/>
          <p:cNvCxnSpPr/>
          <p:nvPr/>
        </p:nvCxnSpPr>
        <p:spPr>
          <a:xfrm>
            <a:off x="355979" y="4695275"/>
            <a:ext cx="487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95" name="Google Shape;695;p72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75" y="1330188"/>
            <a:ext cx="4724925" cy="292157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96" name="Google Shape;696;p72"/>
          <p:cNvSpPr txBox="1"/>
          <p:nvPr>
            <p:ph idx="2" type="subTitle"/>
          </p:nvPr>
        </p:nvSpPr>
        <p:spPr>
          <a:xfrm>
            <a:off x="5827400" y="732775"/>
            <a:ext cx="26133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Proposed Funding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